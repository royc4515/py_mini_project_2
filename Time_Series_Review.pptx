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1" r:id="rId5"/>
    <p:sldId id="259" r:id="rId6"/>
    <p:sldId id="262" r:id="rId7"/>
    <p:sldId id="271" r:id="rId8"/>
    <p:sldId id="264" r:id="rId9"/>
    <p:sldId id="275" r:id="rId10"/>
    <p:sldId id="263" r:id="rId11"/>
    <p:sldId id="265" r:id="rId12"/>
    <p:sldId id="285" r:id="rId13"/>
    <p:sldId id="267" r:id="rId14"/>
    <p:sldId id="277" r:id="rId15"/>
    <p:sldId id="276" r:id="rId16"/>
    <p:sldId id="282" r:id="rId17"/>
    <p:sldId id="278" r:id="rId18"/>
    <p:sldId id="286" r:id="rId19"/>
    <p:sldId id="279" r:id="rId20"/>
    <p:sldId id="283" r:id="rId21"/>
    <p:sldId id="280" r:id="rId22"/>
    <p:sldId id="272" r:id="rId23"/>
    <p:sldId id="26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952" autoAdjust="0"/>
  </p:normalViewPr>
  <p:slideViewPr>
    <p:cSldViewPr snapToGrid="0">
      <p:cViewPr varScale="1">
        <p:scale>
          <a:sx n="52" d="100"/>
          <a:sy n="52" d="100"/>
        </p:scale>
        <p:origin x="12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72859-6E2A-4DA7-8027-E8B1B4B6FE7F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225F9-DA77-4201-B5FB-80DE9F4BE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finger data is movement of finger in response to a stimulus – it tells you which finger to move. There are sensors on the fingers to record the movement.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25F9-DA77-4201-B5FB-80DE9F4BE8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76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88992-5637-6FB2-21C4-57EBA3530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E902F-9766-A6FB-6573-E43BCFD5F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24A0D-7EBB-D488-F2E6-DAF3C76A9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36607-FC39-4F8D-BEA5-4C346CF7045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EECFD-42A9-0E30-4B23-B31BF9C42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1D6EF-6F8A-2398-B9AA-587F623A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58F8-5D73-44A2-8DC8-22920D514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9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5169-040D-B998-A0A0-8E78791A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B0AB9-2295-6440-A25D-B2FB8F605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CD060-D76B-A68F-B038-7E318FBD1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36607-FC39-4F8D-BEA5-4C346CF7045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A7728-8B40-02D1-4306-2A9D5ED2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DB2F4-2370-55FC-06B7-E11896C4C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58F8-5D73-44A2-8DC8-22920D514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17655-A719-9437-482B-70EC49B17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4401F-B1BA-1485-7F78-FA18A02DB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5FEC7-4F1C-ADB2-52D7-C5A39BEB9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36607-FC39-4F8D-BEA5-4C346CF7045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8F5E0-3275-1756-3E3D-8941FF194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ED3ED-E6A3-9425-98A7-CB8A8552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58F8-5D73-44A2-8DC8-22920D514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3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5808-687A-8853-919E-5CDA5917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E8C10-381A-D146-8877-CC70AAD2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92A1C-7FC8-24BB-A585-08106DBDA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F1E9C-621B-4974-1B5B-3B043050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36607-FC39-4F8D-BEA5-4C346CF7045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5D438-6532-DDB3-4D6F-14A410A7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00309-B7AF-94D1-21FA-801CB41F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58F8-5D73-44A2-8DC8-22920D514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46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A10A0-A0B3-58C2-4F8C-2C1625C8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B7204-775F-7395-3484-B6DF9FA12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D2860-D2BD-3EE0-4C38-130A1CA7F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15D003-CBFF-AF66-E678-BAA021B78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C0D1E-6831-CD77-BBEF-F6ED0163A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FFB39-909F-B95B-4BB8-A6D3998BA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36607-FC39-4F8D-BEA5-4C346CF7045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07BFC-FC87-CA79-1F90-1D50274A4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802F8-2B7D-06F1-FC11-14CF16F31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58F8-5D73-44A2-8DC8-22920D514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4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2529-146A-BE57-529D-4C9F3F4B8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947B7-4DB5-90AF-E2A3-63E6364A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36607-FC39-4F8D-BEA5-4C346CF7045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AB878-FC1C-6300-E37A-AF4443762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766B52-D49C-CD84-7872-4F139D7FD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58F8-5D73-44A2-8DC8-22920D514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41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D28D9C-0A95-CD96-3F4C-A5CB5D392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36607-FC39-4F8D-BEA5-4C346CF7045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B8EAE9-1905-5389-A760-C4645038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B574D-D5FB-676C-AD5C-92F27180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58F8-5D73-44A2-8DC8-22920D514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5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CA251-07E1-494D-B896-37DE267D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D5518-A6D2-42F9-2F20-9FA303C7B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0B342-1CBE-BE15-688A-C3E5E61C9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E0D1B-BDA2-2D43-C632-1F9FF4D5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36607-FC39-4F8D-BEA5-4C346CF7045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79B97-9858-3565-ECB6-A85DD2EA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8E23D-8E8D-26CF-ACFF-51640F53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58F8-5D73-44A2-8DC8-22920D514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33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C9332-90AF-E6B9-9092-2016D4ABC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BC2BA7-DFF9-ADFB-69EF-CF232390C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D83D6-0640-BF5F-2A4B-25A7FFEAD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AB39B-D396-375D-1606-851EFCD44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36607-FC39-4F8D-BEA5-4C346CF7045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E5821-7EDC-894D-D5EF-1540F9B5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4275A-BDC6-D39E-5607-E63B61DF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58F8-5D73-44A2-8DC8-22920D514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05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3BF3-9BF2-75EF-81BC-CA7FB4B22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85F5C-4482-4CCC-6127-280538DAB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59297-6979-F4F9-880F-668890274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36607-FC39-4F8D-BEA5-4C346CF7045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99EB2-EFBC-8785-DAE4-7D07DCA24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C8769-493D-3B29-91CF-499583A14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58F8-5D73-44A2-8DC8-22920D514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3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121264-8DD3-BFC8-ED78-98870E238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64880-E8FD-23C3-D62B-EB7193FF7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50499-2AFA-CF58-D951-ED6248FE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36607-FC39-4F8D-BEA5-4C346CF7045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10317-AA0E-314C-6283-BD53C846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04351-5532-C2D5-84FC-A4C7694DB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58F8-5D73-44A2-8DC8-22920D514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12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0F506D-E0FD-9BE7-4C8B-6663ED4F0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2801E-9E6B-C4B8-F1B3-200F94065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A8FAA-3384-231E-F03A-90B0525B3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36607-FC39-4F8D-BEA5-4C346CF70452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F9206-8742-12B1-AD4F-96957BE79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74686-1CD6-29B8-78A5-10CDC13F0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C58F8-5D73-44A2-8DC8-22920D514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35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78EA-ECF4-E1BC-ED1B-C8A8C94D01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Series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76467-FD06-B6CB-A188-FC87A44996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Basics and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C0289-B062-DDB6-BE24-11BCBDCA9750}"/>
              </a:ext>
            </a:extLst>
          </p:cNvPr>
          <p:cNvSpPr txBox="1"/>
          <p:nvPr/>
        </p:nvSpPr>
        <p:spPr>
          <a:xfrm>
            <a:off x="3620530" y="5735637"/>
            <a:ext cx="646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Programming for Neuroscience Students</a:t>
            </a:r>
          </a:p>
        </p:txBody>
      </p:sp>
    </p:spTree>
    <p:extLst>
      <p:ext uri="{BB962C8B-B14F-4D97-AF65-F5344CB8AC3E}">
        <p14:creationId xmlns:p14="http://schemas.microsoft.com/office/powerpoint/2010/main" val="2067415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D988-8103-9F8E-41C4-8E5B4E833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will learn: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5CA39-70FE-AF5C-627A-FE2914F35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time series?</a:t>
            </a:r>
          </a:p>
          <a:p>
            <a:r>
              <a:rPr lang="en-US" dirty="0"/>
              <a:t>Components of a time series</a:t>
            </a:r>
          </a:p>
          <a:p>
            <a:r>
              <a:rPr lang="en-US" dirty="0"/>
              <a:t>Processing time series</a:t>
            </a:r>
          </a:p>
          <a:p>
            <a:r>
              <a:rPr lang="en-US" dirty="0"/>
              <a:t>Analysis of time series</a:t>
            </a:r>
          </a:p>
          <a:p>
            <a:r>
              <a:rPr lang="en-US" dirty="0"/>
              <a:t>Example of time series data and how to process it</a:t>
            </a:r>
          </a:p>
        </p:txBody>
      </p:sp>
    </p:spTree>
    <p:extLst>
      <p:ext uri="{BB962C8B-B14F-4D97-AF65-F5344CB8AC3E}">
        <p14:creationId xmlns:p14="http://schemas.microsoft.com/office/powerpoint/2010/main" val="3759428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E25A-26C7-1360-A40A-42866BF0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and temporal resolution</a:t>
            </a:r>
          </a:p>
        </p:txBody>
      </p:sp>
      <p:pic>
        <p:nvPicPr>
          <p:cNvPr id="1026" name="Picture 2" descr="6: Spatial and temporal resolutions of diierent modalities commonly used for functional imaging. A typical fMRI acquisition (as of 2014) enjoys spatial resolution of the order of 1 − 3mm 3 and temporal resolution of the order of 1-3 seconds. ">
            <a:extLst>
              <a:ext uri="{FF2B5EF4-FFF2-40B4-BE49-F238E27FC236}">
                <a16:creationId xmlns:a16="http://schemas.microsoft.com/office/drawing/2014/main" id="{C0548162-CB64-4604-8DAA-003E99732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831" y="1761073"/>
            <a:ext cx="693420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8F3BE2-A38F-51BC-20A8-2C3DCF70B1D8}"/>
              </a:ext>
            </a:extLst>
          </p:cNvPr>
          <p:cNvSpPr txBox="1"/>
          <p:nvPr/>
        </p:nvSpPr>
        <p:spPr>
          <a:xfrm>
            <a:off x="9259432" y="6308209"/>
            <a:ext cx="2754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ff2"/>
              </a:rPr>
              <a:t>Fabian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f2"/>
              </a:rPr>
              <a:t>Pedregosa</a:t>
            </a:r>
            <a:r>
              <a:rPr lang="en-US" b="0" i="0" dirty="0">
                <a:solidFill>
                  <a:srgbClr val="000000"/>
                </a:solidFill>
                <a:effectLst/>
                <a:latin typeface="ff2"/>
              </a:rPr>
              <a:t>-Izquierdo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6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B653-AB42-BC2A-D820-E0171ECE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example time series - ECOG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A309-CA96-CEF3-D254-F75CC1B5B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explain the concept of time series through ECOG examples</a:t>
            </a:r>
          </a:p>
          <a:p>
            <a:r>
              <a:rPr lang="en-US" dirty="0"/>
              <a:t>What is ECOG?</a:t>
            </a:r>
          </a:p>
          <a:p>
            <a:pPr marL="0" indent="0">
              <a:buNone/>
            </a:pPr>
            <a:r>
              <a:rPr lang="en-US" dirty="0"/>
              <a:t>I will show you on the next slide…</a:t>
            </a:r>
          </a:p>
        </p:txBody>
      </p:sp>
    </p:spTree>
    <p:extLst>
      <p:ext uri="{BB962C8B-B14F-4D97-AF65-F5344CB8AC3E}">
        <p14:creationId xmlns:p14="http://schemas.microsoft.com/office/powerpoint/2010/main" val="350711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58F0-9BE1-C52E-0B1A-82DD954EA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ECOG records neural signals over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31FF6-5143-C3F8-7E51-36DC53E9E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618" y="2528604"/>
            <a:ext cx="4307377" cy="2741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6270E7-0629-FB29-CDEA-480690320DE0}"/>
              </a:ext>
            </a:extLst>
          </p:cNvPr>
          <p:cNvSpPr txBox="1"/>
          <p:nvPr/>
        </p:nvSpPr>
        <p:spPr>
          <a:xfrm>
            <a:off x="10146672" y="6243294"/>
            <a:ext cx="1912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Alahi</a:t>
            </a:r>
            <a:r>
              <a:rPr lang="en-US" dirty="0"/>
              <a:t> et al. (2021)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D34E80DC-8BC8-5373-3299-0DC6CEAC6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91473"/>
            <a:ext cx="5972174" cy="279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911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3ABD-D916-AE94-7315-B8F2E1AD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raw time series signal</a:t>
            </a:r>
          </a:p>
        </p:txBody>
      </p:sp>
      <p:pic>
        <p:nvPicPr>
          <p:cNvPr id="4098" name="Picture 2" descr="The difference between raw ECoG signals, filtered signals using Butterworth and proposed approach.">
            <a:extLst>
              <a:ext uri="{FF2B5EF4-FFF2-40B4-BE49-F238E27FC236}">
                <a16:creationId xmlns:a16="http://schemas.microsoft.com/office/drawing/2014/main" id="{A4C55A1A-E946-F0D3-6DB2-C3822041A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562225"/>
            <a:ext cx="809625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B74177C-59B2-E80B-0E51-4BD88F9CCDED}"/>
              </a:ext>
            </a:extLst>
          </p:cNvPr>
          <p:cNvSpPr/>
          <p:nvPr/>
        </p:nvSpPr>
        <p:spPr>
          <a:xfrm>
            <a:off x="1682057" y="2047875"/>
            <a:ext cx="3895725" cy="37719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C3A963-CDFA-6E3E-B450-4D52A5832137}"/>
              </a:ext>
            </a:extLst>
          </p:cNvPr>
          <p:cNvCxnSpPr/>
          <p:nvPr/>
        </p:nvCxnSpPr>
        <p:spPr>
          <a:xfrm>
            <a:off x="1874067" y="2047875"/>
            <a:ext cx="398353" cy="387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42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2434-6C44-6BE8-0597-98A76A125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2DF2-A101-C879-EBDD-C817E5B72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Trend</a:t>
            </a:r>
          </a:p>
          <a:p>
            <a:r>
              <a:rPr lang="en-US" dirty="0"/>
              <a:t>Seasonality</a:t>
            </a:r>
          </a:p>
          <a:p>
            <a:r>
              <a:rPr lang="en-US" dirty="0"/>
              <a:t>Residuals (irregularities)</a:t>
            </a:r>
          </a:p>
          <a:p>
            <a:pPr marL="0" indent="0">
              <a:buNone/>
            </a:pPr>
            <a:r>
              <a:rPr lang="en-US" dirty="0"/>
              <a:t>You spoke about trend and seasonality in the lecture.</a:t>
            </a:r>
          </a:p>
          <a:p>
            <a:pPr marL="0" indent="0">
              <a:buNone/>
            </a:pPr>
            <a:r>
              <a:rPr lang="en-US" dirty="0"/>
              <a:t>We are going to focus on noise.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286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64AC-C18B-98D3-B032-54B7A984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using real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CB0E2-53BD-0EF7-48A4-D4BC50033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going to look at finger data and ECOG signals. </a:t>
            </a:r>
          </a:p>
          <a:p>
            <a:r>
              <a:rPr lang="en-US" dirty="0"/>
              <a:t>Experiment set up:</a:t>
            </a:r>
          </a:p>
          <a:p>
            <a:pPr lvl="1"/>
            <a:r>
              <a:rPr lang="en-US" dirty="0"/>
              <a:t>Patients have electrodes on the surface of the brain for detection of epilepsy episodes</a:t>
            </a:r>
          </a:p>
          <a:p>
            <a:pPr lvl="1"/>
            <a:r>
              <a:rPr lang="en-US" dirty="0"/>
              <a:t>Patients are asked to perform a task, and the brain signal response is recorded</a:t>
            </a:r>
          </a:p>
          <a:p>
            <a:pPr lvl="1"/>
            <a:r>
              <a:rPr lang="en-US" dirty="0"/>
              <a:t>There are many trials for each event – each event consists of moving a finger after a stimulus appeared on the screen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https://www.nature.com/articles/s41562-019-0678-3</a:t>
            </a:r>
          </a:p>
        </p:txBody>
      </p:sp>
    </p:spTree>
    <p:extLst>
      <p:ext uri="{BB962C8B-B14F-4D97-AF65-F5344CB8AC3E}">
        <p14:creationId xmlns:p14="http://schemas.microsoft.com/office/powerpoint/2010/main" val="1806166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E8A1-D555-2F79-4A95-57F560A8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Finger data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7AB554-8684-634C-4083-D8CEC2532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3697" y="1690688"/>
            <a:ext cx="87503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97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924A4-1C42-3C08-FF13-49C02F139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57E49-1474-7521-9AF4-99DC70703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some potential causes of noise to a signal?</a:t>
            </a:r>
          </a:p>
          <a:p>
            <a:pPr lvl="1"/>
            <a:r>
              <a:rPr lang="en-US" dirty="0"/>
              <a:t>Movements</a:t>
            </a:r>
          </a:p>
          <a:p>
            <a:pPr lvl="1"/>
            <a:r>
              <a:rPr lang="en-US" dirty="0"/>
              <a:t>Other organs functioning</a:t>
            </a:r>
          </a:p>
          <a:p>
            <a:pPr lvl="1"/>
            <a:r>
              <a:rPr lang="en-US" dirty="0"/>
              <a:t>Technology noise</a:t>
            </a:r>
          </a:p>
          <a:p>
            <a:r>
              <a:rPr lang="en-US" dirty="0"/>
              <a:t>Why is it important to remove noise?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424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6541-588B-E4A8-456F-7C98BE08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 removal and preprocessing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6F0D49C-0602-618F-ECF1-02F5AAC52E10}"/>
              </a:ext>
            </a:extLst>
          </p:cNvPr>
          <p:cNvSpPr txBox="1">
            <a:spLocks/>
          </p:cNvSpPr>
          <p:nvPr/>
        </p:nvSpPr>
        <p:spPr>
          <a:xfrm>
            <a:off x="710611" y="153493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Filtering – we remove noise and smooth the signal using filters and windows (we also remove outliers)</a:t>
            </a:r>
          </a:p>
          <a:p>
            <a:r>
              <a:rPr lang="en-US" dirty="0"/>
              <a:t>We </a:t>
            </a:r>
            <a:r>
              <a:rPr lang="en-US" dirty="0" err="1"/>
              <a:t>upsample</a:t>
            </a:r>
            <a:r>
              <a:rPr lang="en-US" dirty="0"/>
              <a:t> or </a:t>
            </a:r>
            <a:r>
              <a:rPr lang="en-US" dirty="0" err="1"/>
              <a:t>downsample</a:t>
            </a:r>
            <a:r>
              <a:rPr lang="en-US" dirty="0"/>
              <a:t> in order to coordinate between different sampling rates</a:t>
            </a:r>
          </a:p>
          <a:p>
            <a:pPr lvl="1"/>
            <a:r>
              <a:rPr lang="en-US" b="1" dirty="0"/>
              <a:t>What is sampling rate? </a:t>
            </a:r>
            <a:r>
              <a:rPr lang="en-US" dirty="0"/>
              <a:t>How often we “check in” with the signal – how often we record it.</a:t>
            </a:r>
          </a:p>
          <a:p>
            <a:r>
              <a:rPr lang="en-US" dirty="0"/>
              <a:t>Normalization/Standardization – to compare across time series signals, we need to make sure they are on the same scale</a:t>
            </a:r>
          </a:p>
          <a:p>
            <a:r>
              <a:rPr lang="en-US" dirty="0"/>
              <a:t>And more…</a:t>
            </a:r>
          </a:p>
          <a:p>
            <a:pPr marL="0" indent="0">
              <a:buNone/>
            </a:pPr>
            <a:r>
              <a:rPr lang="en-US" dirty="0"/>
              <a:t>We need to be careful when removing noise that we are not removing the actual signal!</a:t>
            </a:r>
          </a:p>
          <a:p>
            <a:pPr lvl="1"/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277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99B02-A3AA-BFF6-60D5-4697DA66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rate in this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66089-CD17-4083-1075-FD0941FFF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83445"/>
          </a:xfrm>
        </p:spPr>
        <p:txBody>
          <a:bodyPr>
            <a:normAutofit/>
          </a:bodyPr>
          <a:lstStyle/>
          <a:p>
            <a:r>
              <a:rPr lang="en-US" dirty="0"/>
              <a:t>Sampling rate of ECOG data – 1000 Hz (1 sample every millisecond)</a:t>
            </a:r>
          </a:p>
          <a:p>
            <a:r>
              <a:rPr lang="en-US" dirty="0"/>
              <a:t>Sampling rate of sensing finger movement – 25 Hz. In order to match the sampling rates – each finger movement is written 40 times – same one value on 40 rows - 40 * 25 = 1000 </a:t>
            </a:r>
          </a:p>
          <a:p>
            <a:r>
              <a:rPr lang="en-US" dirty="0"/>
              <a:t>Why was this done?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D2C7BD-5A9E-A2CC-2988-A1748D284D0C}"/>
              </a:ext>
            </a:extLst>
          </p:cNvPr>
          <p:cNvSpPr txBox="1"/>
          <p:nvPr/>
        </p:nvSpPr>
        <p:spPr>
          <a:xfrm>
            <a:off x="584886" y="4992130"/>
            <a:ext cx="1102222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 that the indices match up between the finger data and the brain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3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6C512-1995-099D-00C5-8895E4DC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think about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72C24-B447-0437-35F5-EEAF64AEA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86816" cy="4351338"/>
          </a:xfrm>
        </p:spPr>
        <p:txBody>
          <a:bodyPr/>
          <a:lstStyle/>
          <a:p>
            <a:r>
              <a:rPr lang="en-US" dirty="0"/>
              <a:t>How would you approach this data?</a:t>
            </a:r>
          </a:p>
          <a:p>
            <a:r>
              <a:rPr lang="en-US" dirty="0"/>
              <a:t>What questions can you ask about this data and what insights can the time series data provide?</a:t>
            </a: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9BC88E0-4CAD-77A9-B299-EF71FEDD2069}"/>
              </a:ext>
            </a:extLst>
          </p:cNvPr>
          <p:cNvSpPr/>
          <p:nvPr/>
        </p:nvSpPr>
        <p:spPr>
          <a:xfrm>
            <a:off x="7933038" y="3541869"/>
            <a:ext cx="2150076" cy="2253449"/>
          </a:xfrm>
          <a:prstGeom prst="actionButtonHelp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52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6F0C0-407D-BE8C-84A0-F42394E6F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3990"/>
            <a:ext cx="10515600" cy="1325563"/>
          </a:xfrm>
        </p:spPr>
        <p:txBody>
          <a:bodyPr/>
          <a:lstStyle/>
          <a:p>
            <a:r>
              <a:rPr lang="en-US" dirty="0"/>
              <a:t>Our task – find the start of every finger movement</a:t>
            </a:r>
          </a:p>
        </p:txBody>
      </p:sp>
    </p:spTree>
    <p:extLst>
      <p:ext uri="{BB962C8B-B14F-4D97-AF65-F5344CB8AC3E}">
        <p14:creationId xmlns:p14="http://schemas.microsoft.com/office/powerpoint/2010/main" val="722175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E3B82-9493-1E76-C660-6602CE60D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AD7EA-E73B-9DF9-5964-2A66EEFFC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52" y="1390489"/>
            <a:ext cx="8774919" cy="3757304"/>
          </a:xfrm>
          <a:prstGeom prst="rect">
            <a:avLst/>
          </a:prstGeom>
        </p:spPr>
      </p:pic>
      <p:sp>
        <p:nvSpPr>
          <p:cNvPr id="6" name="Cloud 5">
            <a:extLst>
              <a:ext uri="{FF2B5EF4-FFF2-40B4-BE49-F238E27FC236}">
                <a16:creationId xmlns:a16="http://schemas.microsoft.com/office/drawing/2014/main" id="{B8C7A3EC-9629-2454-B7DA-62F23F608586}"/>
              </a:ext>
            </a:extLst>
          </p:cNvPr>
          <p:cNvSpPr/>
          <p:nvPr/>
        </p:nvSpPr>
        <p:spPr>
          <a:xfrm>
            <a:off x="8810368" y="1690688"/>
            <a:ext cx="3072714" cy="213154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What are we doing here?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8D931-693E-D0EA-DF0A-FA4017E93673}"/>
              </a:ext>
            </a:extLst>
          </p:cNvPr>
          <p:cNvSpPr txBox="1"/>
          <p:nvPr/>
        </p:nvSpPr>
        <p:spPr>
          <a:xfrm>
            <a:off x="1023551" y="5147793"/>
            <a:ext cx="877491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 apply a </a:t>
            </a:r>
            <a:r>
              <a:rPr lang="en-US" sz="2000" b="1" dirty="0"/>
              <a:t>Gaussian function</a:t>
            </a:r>
            <a:r>
              <a:rPr lang="en-US" sz="2000" dirty="0"/>
              <a:t> (a bell-shaped curve) to the data in a way that averages nearby values in a weighted manner, with more importance (weight) given to points closer to the target point.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results in a smooth curve where noise is reduced, and the underlying trend becomes clearer</a:t>
            </a:r>
          </a:p>
        </p:txBody>
      </p:sp>
    </p:spTree>
    <p:extLst>
      <p:ext uri="{BB962C8B-B14F-4D97-AF65-F5344CB8AC3E}">
        <p14:creationId xmlns:p14="http://schemas.microsoft.com/office/powerpoint/2010/main" val="114550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58BD8-A701-5653-2FF4-39652BD5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4DFCE-FB42-0C6E-E80E-C89A38DFC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given the following data:</a:t>
            </a:r>
          </a:p>
          <a:p>
            <a:pPr lvl="1"/>
            <a:r>
              <a:rPr lang="en-US" dirty="0"/>
              <a:t>Finger flex data – with 5 columns and a bunch of rows. Each column belongs to a different finger that was moved during the study</a:t>
            </a:r>
          </a:p>
          <a:p>
            <a:pPr lvl="1"/>
            <a:r>
              <a:rPr lang="en-US" dirty="0"/>
              <a:t>Figure out how you can find the start of when the finger moved.</a:t>
            </a:r>
          </a:p>
          <a:p>
            <a:pPr lvl="1"/>
            <a:r>
              <a:rPr lang="en-US" dirty="0"/>
              <a:t>Hint: It is easy to find the maximum movement of a finger – how would that look in a signal?</a:t>
            </a:r>
          </a:p>
          <a:p>
            <a:pPr lvl="1"/>
            <a:r>
              <a:rPr lang="en-US" dirty="0"/>
              <a:t>Ensure that the maximum is above the mean of the signal + the std of the signal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CC7D0CC-6301-3077-0B07-0431E528AF24}"/>
              </a:ext>
            </a:extLst>
          </p:cNvPr>
          <p:cNvSpPr/>
          <p:nvPr/>
        </p:nvSpPr>
        <p:spPr>
          <a:xfrm>
            <a:off x="7661189" y="4522573"/>
            <a:ext cx="3274541" cy="15569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Try yourselves and then we will solve </a:t>
            </a:r>
            <a:r>
              <a:rPr lang="en-US"/>
              <a:t>it together.</a:t>
            </a:r>
          </a:p>
        </p:txBody>
      </p:sp>
    </p:spTree>
    <p:extLst>
      <p:ext uri="{BB962C8B-B14F-4D97-AF65-F5344CB8AC3E}">
        <p14:creationId xmlns:p14="http://schemas.microsoft.com/office/powerpoint/2010/main" val="891522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F249C-8879-0F21-BB77-24BEED545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of event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1AB62F-81B2-9FEC-C392-2B5D7714B5EF}"/>
              </a:ext>
            </a:extLst>
          </p:cNvPr>
          <p:cNvSpPr/>
          <p:nvPr/>
        </p:nvSpPr>
        <p:spPr>
          <a:xfrm>
            <a:off x="6993924" y="1121298"/>
            <a:ext cx="4693508" cy="22983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What is happening in this portion of the code?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AD56E133-1D1A-4EDE-FF38-77CF06107093}"/>
              </a:ext>
            </a:extLst>
          </p:cNvPr>
          <p:cNvSpPr/>
          <p:nvPr/>
        </p:nvSpPr>
        <p:spPr>
          <a:xfrm>
            <a:off x="8044338" y="3646428"/>
            <a:ext cx="3768811" cy="205656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We find the maximum points – where the finger is at the height of movement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B3D03B-AA62-547F-ABEA-58C8350A7E68}"/>
              </a:ext>
            </a:extLst>
          </p:cNvPr>
          <p:cNvSpPr/>
          <p:nvPr/>
        </p:nvSpPr>
        <p:spPr>
          <a:xfrm>
            <a:off x="6888982" y="5296318"/>
            <a:ext cx="2010032" cy="132556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There are MANY ways to do this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E93D47-1DAD-2909-384E-0D9D39EC1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690688"/>
            <a:ext cx="4927600" cy="466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5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0133-5918-BFF9-97E2-1205F3A48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FC60C-DC1C-FA7F-FB76-D23B0B962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1 1 3 1 1 1 2 – original signal – the maximum is bigger than the two numbers next to it.</a:t>
            </a:r>
          </a:p>
          <a:p>
            <a:r>
              <a:rPr lang="en-US" dirty="0"/>
              <a:t>0 1 1 3 1 1 1 – everything shifted to the right</a:t>
            </a:r>
          </a:p>
          <a:p>
            <a:r>
              <a:rPr lang="en-US" dirty="0"/>
              <a:t>1 2 1 1 1 3 0 – everything shifted to the left</a:t>
            </a:r>
            <a:endParaRPr lang="he-IL" dirty="0"/>
          </a:p>
          <a:p>
            <a:endParaRPr lang="he-IL" dirty="0"/>
          </a:p>
          <a:p>
            <a:pPr marL="0" indent="0">
              <a:buNone/>
            </a:pPr>
            <a:r>
              <a:rPr lang="en-US" dirty="0"/>
              <a:t>Difference between original signal and second:</a:t>
            </a:r>
          </a:p>
          <a:p>
            <a:pPr marL="0" indent="0">
              <a:buNone/>
            </a:pPr>
            <a:r>
              <a:rPr lang="en-US" dirty="0"/>
              <a:t>1 0 2 -2 0 0 1</a:t>
            </a:r>
          </a:p>
          <a:p>
            <a:pPr marL="0" indent="0">
              <a:buNone/>
            </a:pPr>
            <a:r>
              <a:rPr lang="en-US" dirty="0"/>
              <a:t>Difference between original signal and third:</a:t>
            </a:r>
          </a:p>
          <a:p>
            <a:pPr marL="0" indent="0">
              <a:buNone/>
            </a:pPr>
            <a:r>
              <a:rPr lang="en-US"/>
              <a:t>0 1 2 0 0 -2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598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4848D-ECB8-A6E5-E39E-3DF16BF0C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find the start of the event?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D8E01-34EF-23A0-CF87-A19B76D09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20" y="2619632"/>
            <a:ext cx="10207859" cy="1068619"/>
          </a:xfrm>
          <a:prstGeom prst="rect">
            <a:avLst/>
          </a:prstGeom>
        </p:spPr>
      </p:pic>
      <p:sp>
        <p:nvSpPr>
          <p:cNvPr id="6" name="Cloud 5">
            <a:extLst>
              <a:ext uri="{FF2B5EF4-FFF2-40B4-BE49-F238E27FC236}">
                <a16:creationId xmlns:a16="http://schemas.microsoft.com/office/drawing/2014/main" id="{4A9B6DAC-E12D-8A03-152A-753FF87C3538}"/>
              </a:ext>
            </a:extLst>
          </p:cNvPr>
          <p:cNvSpPr/>
          <p:nvPr/>
        </p:nvSpPr>
        <p:spPr>
          <a:xfrm>
            <a:off x="7253416" y="4213654"/>
            <a:ext cx="4374292" cy="226128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We find the minimum closest to the maximum!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3B597A-B179-E4CE-6A7F-7DD6796CE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20" y="2094229"/>
            <a:ext cx="3895725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152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C277B-06F0-9579-7C0D-310E2002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events into one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951371-87E2-24BC-18C7-CCDC857AC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23" y="2202419"/>
            <a:ext cx="11828953" cy="287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11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C429-BB9E-66B2-CCFC-CDC5D534A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example of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53D8D0-5675-C9CE-75A1-5F11BFD33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808" y="2746247"/>
            <a:ext cx="3510383" cy="25467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85785F-B958-8008-22C7-AF0983E0D405}"/>
              </a:ext>
            </a:extLst>
          </p:cNvPr>
          <p:cNvSpPr txBox="1"/>
          <p:nvPr/>
        </p:nvSpPr>
        <p:spPr>
          <a:xfrm>
            <a:off x="1952368" y="2261286"/>
            <a:ext cx="20177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Start of movement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5F71A-87D6-538C-5028-6873E9A95D6A}"/>
              </a:ext>
            </a:extLst>
          </p:cNvPr>
          <p:cNvSpPr txBox="1"/>
          <p:nvPr/>
        </p:nvSpPr>
        <p:spPr>
          <a:xfrm>
            <a:off x="4860324" y="1690688"/>
            <a:ext cx="239309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Inversion point – high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7BCCB-2C31-9922-BA0A-7B10CAF751BF}"/>
              </a:ext>
            </a:extLst>
          </p:cNvPr>
          <p:cNvSpPr txBox="1"/>
          <p:nvPr/>
        </p:nvSpPr>
        <p:spPr>
          <a:xfrm>
            <a:off x="8456140" y="2054953"/>
            <a:ext cx="26525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Number of event (finger)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0519E2-8FFE-1625-2637-4BB53AF47C32}"/>
              </a:ext>
            </a:extLst>
          </p:cNvPr>
          <p:cNvCxnSpPr/>
          <p:nvPr/>
        </p:nvCxnSpPr>
        <p:spPr>
          <a:xfrm>
            <a:off x="3645243" y="2630618"/>
            <a:ext cx="695565" cy="23615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6E42D7-0FDA-8DD1-7178-36304FFD80A9}"/>
              </a:ext>
            </a:extLst>
          </p:cNvPr>
          <p:cNvCxnSpPr>
            <a:stCxn id="7" idx="2"/>
            <a:endCxn id="5" idx="0"/>
          </p:cNvCxnSpPr>
          <p:nvPr/>
        </p:nvCxnSpPr>
        <p:spPr>
          <a:xfrm>
            <a:off x="6056870" y="2060020"/>
            <a:ext cx="39130" cy="686227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F9F35F-F2FD-EA6A-C91D-2679FBE7D642}"/>
              </a:ext>
            </a:extLst>
          </p:cNvPr>
          <p:cNvCxnSpPr/>
          <p:nvPr/>
        </p:nvCxnSpPr>
        <p:spPr>
          <a:xfrm flipH="1">
            <a:off x="7512908" y="2424285"/>
            <a:ext cx="2054345" cy="442483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199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99F2-18DD-6376-3313-7C77A9A9D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single finger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99FB8-C6E5-CC90-DF10-65A313BD9A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70"/>
          <a:stretch/>
        </p:blipFill>
        <p:spPr>
          <a:xfrm>
            <a:off x="2362199" y="2148756"/>
            <a:ext cx="7044351" cy="349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6988-9CFC-0E9F-351D-C704D5F92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finger data and brain data…</a:t>
            </a:r>
          </a:p>
        </p:txBody>
      </p:sp>
      <p:pic>
        <p:nvPicPr>
          <p:cNvPr id="4" name="Picture 2" descr="Stanford ECoG library: ECoG to Finger Movements Dataset | Papers With Code">
            <a:extLst>
              <a:ext uri="{FF2B5EF4-FFF2-40B4-BE49-F238E27FC236}">
                <a16:creationId xmlns:a16="http://schemas.microsoft.com/office/drawing/2014/main" id="{F2B8DAF1-C276-69F6-6E95-8D50A4B28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828" y="3016251"/>
            <a:ext cx="5862638" cy="3179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8ADF81-E8ED-0958-5BA1-BDC61B90BF9C}"/>
              </a:ext>
            </a:extLst>
          </p:cNvPr>
          <p:cNvSpPr txBox="1"/>
          <p:nvPr/>
        </p:nvSpPr>
        <p:spPr>
          <a:xfrm>
            <a:off x="986828" y="1690688"/>
            <a:ext cx="92905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do we want to find out? </a:t>
            </a:r>
          </a:p>
          <a:p>
            <a:r>
              <a:rPr lang="en-US" sz="2800" dirty="0"/>
              <a:t>What can be an interesting question to ask about this data?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FA63B5-F361-B7B9-BBD4-AA767882695D}"/>
              </a:ext>
            </a:extLst>
          </p:cNvPr>
          <p:cNvSpPr txBox="1"/>
          <p:nvPr/>
        </p:nvSpPr>
        <p:spPr>
          <a:xfrm>
            <a:off x="7586804" y="3429000"/>
            <a:ext cx="3089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does brain activity correlate to finger movement?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D44BC6-9EB1-0928-3671-4DBEC9A86CA0}"/>
              </a:ext>
            </a:extLst>
          </p:cNvPr>
          <p:cNvSpPr txBox="1"/>
          <p:nvPr/>
        </p:nvSpPr>
        <p:spPr>
          <a:xfrm>
            <a:off x="9098733" y="5239740"/>
            <a:ext cx="2507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Go find it!</a:t>
            </a:r>
          </a:p>
        </p:txBody>
      </p:sp>
    </p:spTree>
    <p:extLst>
      <p:ext uri="{BB962C8B-B14F-4D97-AF65-F5344CB8AC3E}">
        <p14:creationId xmlns:p14="http://schemas.microsoft.com/office/powerpoint/2010/main" val="416350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5F02-6221-A94B-77D0-25F0BE837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MiniProject2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21A0F-0C15-AB9C-5693-49B7B22D3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We are going to combine the finger data with the brain data</a:t>
            </a:r>
          </a:p>
          <a:p>
            <a:r>
              <a:rPr lang="en-US" dirty="0"/>
              <a:t>How can we do this in a meaningful way?</a:t>
            </a:r>
          </a:p>
          <a:p>
            <a:r>
              <a:rPr lang="en-US" dirty="0"/>
              <a:t>What are the steps?</a:t>
            </a:r>
          </a:p>
          <a:p>
            <a:r>
              <a:rPr lang="en-US" dirty="0"/>
              <a:t>ERP!</a:t>
            </a:r>
          </a:p>
          <a:p>
            <a:pPr marL="0" indent="0">
              <a:buNone/>
            </a:pPr>
            <a:r>
              <a:rPr lang="en-US" dirty="0"/>
              <a:t>An ERP is an Event Related Potential. A certain event that occurred that caused a brain response. </a:t>
            </a:r>
          </a:p>
          <a:p>
            <a:pPr marL="0" indent="0">
              <a:buNone/>
            </a:pPr>
            <a:r>
              <a:rPr lang="en-US" dirty="0"/>
              <a:t>What is our event? </a:t>
            </a:r>
          </a:p>
          <a:p>
            <a:pPr marL="0" indent="0">
              <a:buNone/>
            </a:pPr>
            <a:r>
              <a:rPr lang="en-US" dirty="0"/>
              <a:t>How can we find the brain response?</a:t>
            </a:r>
          </a:p>
          <a:p>
            <a:pPr marL="0" indent="0">
              <a:buNone/>
            </a:pPr>
            <a:r>
              <a:rPr lang="en-US" dirty="0"/>
              <a:t>Why might it be useful to average across the timeseries for each event?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41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3583</TotalTime>
  <Words>927</Words>
  <Application>Microsoft Office PowerPoint</Application>
  <PresentationFormat>Widescreen</PresentationFormat>
  <Paragraphs>104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ff2</vt:lpstr>
      <vt:lpstr>Office Theme</vt:lpstr>
      <vt:lpstr>Time Series</vt:lpstr>
      <vt:lpstr>What we will learn:</vt:lpstr>
      <vt:lpstr>Spatial and temporal resolution</vt:lpstr>
      <vt:lpstr>Our example time series - ECOG</vt:lpstr>
      <vt:lpstr>ECOG records neural signals over time</vt:lpstr>
      <vt:lpstr>A raw time series signal</vt:lpstr>
      <vt:lpstr>Components of a time series</vt:lpstr>
      <vt:lpstr>Example using real data</vt:lpstr>
      <vt:lpstr>Finger data</vt:lpstr>
      <vt:lpstr>Noise</vt:lpstr>
      <vt:lpstr>Noise removal and preprocessing</vt:lpstr>
      <vt:lpstr>Sampling rate in this data</vt:lpstr>
      <vt:lpstr>Let’s think about the data</vt:lpstr>
      <vt:lpstr>Our task – find the start of every finger movement</vt:lpstr>
      <vt:lpstr>But first…</vt:lpstr>
      <vt:lpstr>The data</vt:lpstr>
      <vt:lpstr>Start of event</vt:lpstr>
      <vt:lpstr>Example</vt:lpstr>
      <vt:lpstr>How do we find the start of the event?</vt:lpstr>
      <vt:lpstr>Aggregate events into one file</vt:lpstr>
      <vt:lpstr>Show example of output</vt:lpstr>
      <vt:lpstr>A single finger example</vt:lpstr>
      <vt:lpstr>We have finger data and brain data…</vt:lpstr>
      <vt:lpstr>Introducing MiniProject2</vt:lpstr>
    </vt:vector>
  </TitlesOfParts>
  <Company>BIU Office 365 Pro 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Chemda Wiener</dc:creator>
  <cp:lastModifiedBy>Chemda Wiener</cp:lastModifiedBy>
  <cp:revision>53</cp:revision>
  <dcterms:created xsi:type="dcterms:W3CDTF">2024-12-30T08:41:24Z</dcterms:created>
  <dcterms:modified xsi:type="dcterms:W3CDTF">2025-01-12T12:27:03Z</dcterms:modified>
</cp:coreProperties>
</file>